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61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757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9084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5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988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12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360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88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61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4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854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924F93D-196A-43AA-A226-8EF36CFF41A1}" type="datetimeFigureOut">
              <a:rPr lang="en-US" smtClean="0"/>
              <a:t>11/19/2024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8773824-AD3F-4C44-9AA9-B275CEA9577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418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CAPITAL INVESTMENTS LIMITED.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Analysis for the Potential Suitable Aircraft for the aviation Industry</a:t>
            </a:r>
            <a:br>
              <a:rPr lang="en-US" dirty="0" smtClean="0"/>
            </a:br>
            <a:r>
              <a:rPr lang="en-US" dirty="0" smtClean="0"/>
              <a:t>(Airplanes &amp; Helicopters)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31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 Business Understanding.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company is expanding into the aviation industry to diversify its portfolio. Specifically, </a:t>
            </a:r>
            <a:r>
              <a:rPr lang="en-US" dirty="0" smtClean="0"/>
              <a:t>it’s </a:t>
            </a:r>
            <a:r>
              <a:rPr lang="en-US" dirty="0"/>
              <a:t>looking to acquire and operate aircraft for both commercial and private use. </a:t>
            </a:r>
          </a:p>
          <a:p>
            <a:r>
              <a:rPr lang="en-US" dirty="0" smtClean="0"/>
              <a:t>We </a:t>
            </a:r>
            <a:r>
              <a:rPr lang="en-US" dirty="0"/>
              <a:t>shall identify which types of aircraft that pose the lowest risk, analyze various factors such as </a:t>
            </a:r>
            <a:r>
              <a:rPr lang="en-US" dirty="0" smtClean="0"/>
              <a:t>Destruction </a:t>
            </a:r>
            <a:r>
              <a:rPr lang="en-US" dirty="0"/>
              <a:t>v Substantial </a:t>
            </a:r>
            <a:r>
              <a:rPr lang="en-US" dirty="0" smtClean="0"/>
              <a:t>damage in accidents recorded.</a:t>
            </a:r>
            <a:endParaRPr lang="en-US" dirty="0"/>
          </a:p>
          <a:p>
            <a:r>
              <a:rPr lang="en-US" dirty="0" smtClean="0"/>
              <a:t>These </a:t>
            </a:r>
            <a:r>
              <a:rPr lang="en-US" dirty="0"/>
              <a:t>insights will </a:t>
            </a:r>
            <a:r>
              <a:rPr lang="en-US" dirty="0" smtClean="0"/>
              <a:t>you make informed decisions </a:t>
            </a:r>
            <a:r>
              <a:rPr lang="en-US" dirty="0"/>
              <a:t>on which aircraft to purchase, minimizing risk and ensuring a successful entry into the aviation market.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936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 Direction of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need to analyze crash and incident data for the aviation industry thereby helping us to</a:t>
            </a:r>
            <a:r>
              <a:rPr lang="en-US" dirty="0" smtClean="0"/>
              <a:t>;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Determine </a:t>
            </a:r>
            <a:r>
              <a:rPr lang="en-US" dirty="0"/>
              <a:t>which aircraft to </a:t>
            </a:r>
            <a:r>
              <a:rPr lang="en-US" dirty="0" smtClean="0"/>
              <a:t>avoid.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The </a:t>
            </a:r>
            <a:r>
              <a:rPr lang="en-US" dirty="0"/>
              <a:t>average </a:t>
            </a:r>
            <a:r>
              <a:rPr lang="en-US" dirty="0" smtClean="0"/>
              <a:t>crash statistics </a:t>
            </a:r>
            <a:r>
              <a:rPr lang="en-US" dirty="0"/>
              <a:t>in the </a:t>
            </a:r>
            <a:r>
              <a:rPr lang="en-US" dirty="0" smtClean="0"/>
              <a:t>industry</a:t>
            </a:r>
          </a:p>
          <a:p>
            <a:pPr marL="571500" indent="-571500">
              <a:buFont typeface="+mj-lt"/>
              <a:buAutoNum type="romanLcPeriod"/>
            </a:pPr>
            <a:r>
              <a:rPr lang="en-US" dirty="0" smtClean="0"/>
              <a:t>Which </a:t>
            </a:r>
            <a:r>
              <a:rPr lang="en-US" dirty="0"/>
              <a:t>type of aircraft to invest in if the data aligns with our </a:t>
            </a:r>
            <a:r>
              <a:rPr lang="en-US" dirty="0" smtClean="0"/>
              <a:t>goals.</a:t>
            </a:r>
          </a:p>
          <a:p>
            <a:pPr marL="571500" indent="-571500">
              <a:buFont typeface="+mj-lt"/>
              <a:buAutoNum type="romanLcPeriod"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We have decided to go with the most common types of aircraft, that is Airplanes and Helicopters.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09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971022"/>
          </a:xfrm>
        </p:spPr>
        <p:txBody>
          <a:bodyPr>
            <a:normAutofit/>
          </a:bodyPr>
          <a:lstStyle/>
          <a:p>
            <a:r>
              <a:rPr lang="en-US" dirty="0" smtClean="0"/>
              <a:t>General Accident Data For Airplanes.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1345222"/>
            <a:ext cx="5926015" cy="5328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38292" y="1556238"/>
            <a:ext cx="3915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Explanation.</a:t>
            </a:r>
          </a:p>
          <a:p>
            <a:r>
              <a:rPr lang="en-US" dirty="0" smtClean="0"/>
              <a:t>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998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5256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Planes that got Destroyed.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0986" y="817686"/>
            <a:ext cx="5193321" cy="58732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224291"/>
              </p:ext>
            </p:extLst>
          </p:nvPr>
        </p:nvGraphicFramePr>
        <p:xfrm>
          <a:off x="6031522" y="940779"/>
          <a:ext cx="5589493" cy="34484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25483">
                  <a:extLst>
                    <a:ext uri="{9D8B030D-6E8A-4147-A177-3AD203B41FA5}">
                      <a16:colId xmlns:a16="http://schemas.microsoft.com/office/drawing/2014/main" val="2711698434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180774637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273365406"/>
                    </a:ext>
                  </a:extLst>
                </a:gridCol>
                <a:gridCol w="1254670">
                  <a:extLst>
                    <a:ext uri="{9D8B030D-6E8A-4147-A177-3AD203B41FA5}">
                      <a16:colId xmlns:a16="http://schemas.microsoft.com/office/drawing/2014/main" val="1515319477"/>
                    </a:ext>
                  </a:extLst>
                </a:gridCol>
              </a:tblGrid>
              <a:tr h="77712">
                <a:tc grid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TOP 30 DESTROYED AIRPLANES IN ACCIDENTS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59659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Make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Number Destroyed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Make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Number Destroyed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542255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CESSNA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1031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CHAMPION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105050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PIPER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660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DE HAVILLAND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39577004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BEECH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328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SOCATA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719983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MOONEY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69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AERONCA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2545998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GRUMMAN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66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MITSUBISHI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023685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BOEING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59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ROCKWELL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7461809"/>
                  </a:ext>
                </a:extLst>
              </a:tr>
              <a:tr h="2403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RAYTHEON AIRCRAFT COMPANY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3353597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LEARJET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9939109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 DESIGN CORP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MAULE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1762268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VANS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30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AIRBUS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31727592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BELLANCA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LUSCOMBE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5019356"/>
                  </a:ext>
                </a:extLst>
              </a:tr>
              <a:tr h="15902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 INC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23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GRUMMAN AMERICAN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53669270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AERO COMMANDER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SMITH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5115154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EMBRAER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RANS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7704282"/>
                  </a:ext>
                </a:extLst>
              </a:tr>
              <a:tr h="7771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NORTH AMERICAN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>
                          <a:effectLst/>
                        </a:rPr>
                        <a:t>19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b="1" dirty="0">
                          <a:effectLst/>
                        </a:rPr>
                        <a:t>LOCKHEED</a:t>
                      </a:r>
                      <a:endParaRPr lang="en-US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  <a:tabLst>
                          <a:tab pos="5265420" algn="l"/>
                        </a:tabLst>
                      </a:pPr>
                      <a:r>
                        <a:rPr lang="en-US" sz="1100" dirty="0">
                          <a:effectLst/>
                        </a:rPr>
                        <a:t>9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2550343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22731" y="4545623"/>
            <a:ext cx="57765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 info</a:t>
            </a:r>
          </a:p>
          <a:p>
            <a:r>
              <a:rPr lang="en-US" dirty="0" smtClean="0"/>
              <a:t>Box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811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67921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Planes that got Substantial Damage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054" y="861646"/>
            <a:ext cx="5108331" cy="51803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295870"/>
              </p:ext>
            </p:extLst>
          </p:nvPr>
        </p:nvGraphicFramePr>
        <p:xfrm>
          <a:off x="5275385" y="738554"/>
          <a:ext cx="6743700" cy="34566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6590">
                  <a:extLst>
                    <a:ext uri="{9D8B030D-6E8A-4147-A177-3AD203B41FA5}">
                      <a16:colId xmlns:a16="http://schemas.microsoft.com/office/drawing/2014/main" val="4123489280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1124949562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3056459574"/>
                    </a:ext>
                  </a:extLst>
                </a:gridCol>
                <a:gridCol w="1632370">
                  <a:extLst>
                    <a:ext uri="{9D8B030D-6E8A-4147-A177-3AD203B41FA5}">
                      <a16:colId xmlns:a16="http://schemas.microsoft.com/office/drawing/2014/main" val="3556917581"/>
                    </a:ext>
                  </a:extLst>
                </a:gridCol>
              </a:tblGrid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Make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Damaged Substantially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Make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Damaged Substantially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3597942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CESSNA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7181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TAYLORCRAFT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76940090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PIPER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3929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>
                          <a:solidFill>
                            <a:schemeClr val="tx1"/>
                          </a:solidFill>
                          <a:effectLst/>
                        </a:rPr>
                        <a:t>VANS</a:t>
                      </a:r>
                      <a:endParaRPr lang="en-US" sz="11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7375583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BEECH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1288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CIRRUS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17482307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MOONEY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338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NORTH AMERICAN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1519111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BOEING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320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DEHAVILLAND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83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27994831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BELLANCA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250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AERO COMMANDER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82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5277466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MAULE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218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AVIAT AIRCRAFT INC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72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0703587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AERONCA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DIAMOND AIRCRAFT IND INC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34233874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 INC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193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AVIAT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86016572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AIR TRACTOR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182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ERCOUPE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3140232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GRUMMAN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180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GRUMMAN ACFT ENG COR-SCHWEIZER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57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23384996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CIRRUS DESIGN CORP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173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SOCATA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91634718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CHAMPION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ROCKWELL INTERNATIONAL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33265290"/>
                  </a:ext>
                </a:extLst>
              </a:tr>
              <a:tr h="14903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LUSCOMBE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DE HAVILLAND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52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16645746"/>
                  </a:ext>
                </a:extLst>
              </a:tr>
              <a:tr h="29805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</a:rPr>
                        <a:t>STINSON</a:t>
                      </a:r>
                      <a:endParaRPr lang="en-US" sz="1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139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</a:rPr>
                        <a:t>AMERICAN CHAMPION AIRCRAFT</a:t>
                      </a: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49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239385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75385" y="4334608"/>
            <a:ext cx="6682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 Info.</a:t>
            </a:r>
          </a:p>
          <a:p>
            <a:r>
              <a:rPr lang="en-US" dirty="0" smtClean="0"/>
              <a:t>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933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General Accident Data for Helicopters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696" y="1500310"/>
            <a:ext cx="5804158" cy="5085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37131" y="1690688"/>
            <a:ext cx="4651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 info.</a:t>
            </a:r>
          </a:p>
          <a:p>
            <a:r>
              <a:rPr lang="en-US" dirty="0" smtClean="0"/>
              <a:t>box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13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5256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Helicopters that got destroyed.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30" y="817686"/>
            <a:ext cx="4941277" cy="52243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352142"/>
              </p:ext>
            </p:extLst>
          </p:nvPr>
        </p:nvGraphicFramePr>
        <p:xfrm>
          <a:off x="5020407" y="1022018"/>
          <a:ext cx="7092464" cy="31455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86497">
                  <a:extLst>
                    <a:ext uri="{9D8B030D-6E8A-4147-A177-3AD203B41FA5}">
                      <a16:colId xmlns:a16="http://schemas.microsoft.com/office/drawing/2014/main" val="1245752380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2147873232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301569792"/>
                    </a:ext>
                  </a:extLst>
                </a:gridCol>
                <a:gridCol w="1901989">
                  <a:extLst>
                    <a:ext uri="{9D8B030D-6E8A-4147-A177-3AD203B41FA5}">
                      <a16:colId xmlns:a16="http://schemas.microsoft.com/office/drawing/2014/main" val="1459292897"/>
                    </a:ext>
                  </a:extLst>
                </a:gridCol>
              </a:tblGrid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Make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Number Destroyed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Make 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Number Destroyed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653684441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BELL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ROBINSON HELICOPTER CO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078217135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>
                          <a:effectLst/>
                        </a:rPr>
                        <a:t>MBB</a:t>
                      </a:r>
                      <a:endParaRPr lang="en-US" sz="1000" b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836156565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HUGHES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29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>
                          <a:effectLst/>
                        </a:rPr>
                        <a:t>GARLICK</a:t>
                      </a:r>
                      <a:endParaRPr lang="en-US" sz="1000" b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737967704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EUROCOPTER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BELL HELICOPTER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29113958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AEROSPATIALE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AGUSTA SPA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4269054345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SIKORSKY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EUROCOPTER DEUTSCHLAND GMBH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987506199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 HELICOPTER COMPANY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MCDONNELL DOUGLAS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1412083122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ROBINSON HELICOPTER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AIRBUS HELICOPTERS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3093166934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AGUSTA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FAIRCHILD HILLER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425740483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SCHWEIZER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BELL HELICOPTER TEXTRON CANADA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45994999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ENSTROM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MD HELICOPTER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928222419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MD HELICOPTER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KAMAN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437638453"/>
                  </a:ext>
                </a:extLst>
              </a:tr>
              <a:tr h="97994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ROTORWAY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BRANTLY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837234205"/>
                  </a:ext>
                </a:extLst>
              </a:tr>
              <a:tr h="20054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BELL HELICOPTER TEXTRON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B??LKOW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891054069"/>
                  </a:ext>
                </a:extLst>
              </a:tr>
              <a:tr h="98038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effectLst/>
                        </a:rPr>
                        <a:t>HILLER</a:t>
                      </a:r>
                      <a:endParaRPr lang="en-US" sz="10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b="1" dirty="0">
                          <a:effectLst/>
                        </a:rPr>
                        <a:t>ROBINSON HELICOPTER CO INC</a:t>
                      </a:r>
                      <a:endParaRPr lang="en-US" sz="10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1</a:t>
                      </a:r>
                      <a:endParaRPr lang="en-US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258" marR="61258" marT="0" marB="0"/>
                </a:tc>
                <a:extLst>
                  <a:ext uri="{0D108BD9-81ED-4DB2-BD59-A6C34878D82A}">
                    <a16:rowId xmlns:a16="http://schemas.microsoft.com/office/drawing/2014/main" val="2430803920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0407" y="4167554"/>
            <a:ext cx="7033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 info.</a:t>
            </a:r>
          </a:p>
          <a:p>
            <a:r>
              <a:rPr lang="en-US" dirty="0" smtClean="0"/>
              <a:t>Box.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929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048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Helicopters that got Substantial Damage</a:t>
            </a:r>
            <a:endParaRPr lang="en-US" dirty="0"/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884" y="905609"/>
            <a:ext cx="4712677" cy="52273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662874"/>
              </p:ext>
            </p:extLst>
          </p:nvPr>
        </p:nvGraphicFramePr>
        <p:xfrm>
          <a:off x="5075790" y="1113451"/>
          <a:ext cx="6864165" cy="293825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30816">
                  <a:extLst>
                    <a:ext uri="{9D8B030D-6E8A-4147-A177-3AD203B41FA5}">
                      <a16:colId xmlns:a16="http://schemas.microsoft.com/office/drawing/2014/main" val="940422930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2572849731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1305827781"/>
                    </a:ext>
                  </a:extLst>
                </a:gridCol>
                <a:gridCol w="1877783">
                  <a:extLst>
                    <a:ext uri="{9D8B030D-6E8A-4147-A177-3AD203B41FA5}">
                      <a16:colId xmlns:a16="http://schemas.microsoft.com/office/drawing/2014/main" val="320054306"/>
                    </a:ext>
                  </a:extLst>
                </a:gridCol>
              </a:tblGrid>
              <a:tr h="19670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Make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Substantially Damaged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>
                          <a:solidFill>
                            <a:schemeClr val="tx1"/>
                          </a:solidFill>
                          <a:effectLst/>
                        </a:rPr>
                        <a:t>Make</a:t>
                      </a:r>
                      <a:endParaRPr lang="en-US" sz="9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effectLst/>
                        </a:rPr>
                        <a:t>Substantially Damaged</a:t>
                      </a:r>
                      <a:endParaRPr lang="en-US" sz="9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9676096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691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 HELICOPTER TEXTRON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9342434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ROBINSON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422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ROBINSON HELICOPTER CO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729826968"/>
                  </a:ext>
                </a:extLst>
              </a:tr>
              <a:tr h="24359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ROBINSON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210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BELL HELICOPTER TEXTRON CANADA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486690846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HUGHES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209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BRANTLY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842946070"/>
                  </a:ext>
                </a:extLst>
              </a:tr>
              <a:tr h="2526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ROBINSON HELICOPTER COMPANY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165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AGUSTA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350348809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119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 FRANCE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15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08601865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SCHWEIZER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97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EUROCOPTER DEUTSCHLAND GMBH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14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884743252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ENSTROM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70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13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130534702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AEROSPATIALE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66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 HELI CO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794932653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SIKORSKY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59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AIRBUS HELICOPTERS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995383152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HILLER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58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TEXAS HELICOPTER CORP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1387597794"/>
                  </a:ext>
                </a:extLst>
              </a:tr>
              <a:tr h="2526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MCDONNELL DOUGLAS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GARLICK HELICOPTERS INC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8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452532976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MD HELICOPTER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28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MBB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847074233"/>
                  </a:ext>
                </a:extLst>
              </a:tr>
              <a:tr h="1190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AIRBUS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GARLICK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7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3643340437"/>
                  </a:ext>
                </a:extLst>
              </a:tr>
              <a:tr h="16844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ROTORWAY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effectLst/>
                        </a:rPr>
                        <a:t>17</a:t>
                      </a:r>
                      <a:endParaRPr lang="en-US" sz="900" b="1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AMERICAN EUROCOPTER CORP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900" b="1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9165" marR="59165" marT="0" marB="0"/>
                </a:tc>
                <a:extLst>
                  <a:ext uri="{0D108BD9-81ED-4DB2-BD59-A6C34878D82A}">
                    <a16:rowId xmlns:a16="http://schemas.microsoft.com/office/drawing/2014/main" val="235943215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75790" y="4158762"/>
            <a:ext cx="6864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 Info.</a:t>
            </a:r>
          </a:p>
          <a:p>
            <a:r>
              <a:rPr lang="en-US" dirty="0" smtClean="0"/>
              <a:t>Box.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849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Conclusion,Recommendations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3348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39</TotalTime>
  <Words>578</Words>
  <Application>Microsoft Office PowerPoint</Application>
  <PresentationFormat>Widescreen</PresentationFormat>
  <Paragraphs>289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</vt:lpstr>
      <vt:lpstr>Times New Roman</vt:lpstr>
      <vt:lpstr>Tw Cen MT</vt:lpstr>
      <vt:lpstr>Tw Cen MT Condensed</vt:lpstr>
      <vt:lpstr>Wingdings 3</vt:lpstr>
      <vt:lpstr>Integral</vt:lpstr>
      <vt:lpstr>CAPITAL INVESTMENTS LIMITED.</vt:lpstr>
      <vt:lpstr>1. Business Understanding.</vt:lpstr>
      <vt:lpstr>2. Direction of Analysis</vt:lpstr>
      <vt:lpstr>General Accident Data For Airplanes.</vt:lpstr>
      <vt:lpstr>Planes that got Destroyed.</vt:lpstr>
      <vt:lpstr>Planes that got Substantial Damage</vt:lpstr>
      <vt:lpstr>General Accident Data for Helicopters</vt:lpstr>
      <vt:lpstr>Helicopters that got destroyed.</vt:lpstr>
      <vt:lpstr>Helicopters that got Substantial Damage</vt:lpstr>
      <vt:lpstr>Conclusion,Recommendations.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CAPITAL INVESTMENTS LIMITED.</dc:title>
  <dc:creator>Daniel Katete Ogando</dc:creator>
  <cp:lastModifiedBy>Daniel Katete Ogando</cp:lastModifiedBy>
  <cp:revision>9</cp:revision>
  <dcterms:created xsi:type="dcterms:W3CDTF">2024-11-19T16:05:03Z</dcterms:created>
  <dcterms:modified xsi:type="dcterms:W3CDTF">2024-11-19T16:48:28Z</dcterms:modified>
</cp:coreProperties>
</file>