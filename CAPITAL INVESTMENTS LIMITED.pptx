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616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757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9084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25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988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121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360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88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14612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5146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854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1418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13" r:id="rId4"/>
    <p:sldLayoutId id="2147483814" r:id="rId5"/>
    <p:sldLayoutId id="2147483815" r:id="rId6"/>
    <p:sldLayoutId id="2147483816" r:id="rId7"/>
    <p:sldLayoutId id="2147483817" r:id="rId8"/>
    <p:sldLayoutId id="2147483818" r:id="rId9"/>
    <p:sldLayoutId id="2147483819" r:id="rId10"/>
    <p:sldLayoutId id="2147483820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CAPITAL INVESTMENTS LIMITED.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Analysis for the Potential Suitable Aircraft for the aviation Industry</a:t>
            </a:r>
            <a:br>
              <a:rPr lang="en-US" dirty="0" smtClean="0"/>
            </a:br>
            <a:r>
              <a:rPr lang="en-US" dirty="0" smtClean="0"/>
              <a:t>(Airplanes &amp; Helicopters)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313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1. Business Understanding.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company is expanding into the aviation industry to diversify its portfolio. Specifically, </a:t>
            </a:r>
            <a:r>
              <a:rPr lang="en-US" dirty="0" smtClean="0"/>
              <a:t>it’s </a:t>
            </a:r>
            <a:r>
              <a:rPr lang="en-US" dirty="0"/>
              <a:t>looking to acquire and operate aircraft for both commercial and private use. </a:t>
            </a:r>
          </a:p>
          <a:p>
            <a:r>
              <a:rPr lang="en-US" dirty="0" smtClean="0"/>
              <a:t>We </a:t>
            </a:r>
            <a:r>
              <a:rPr lang="en-US" dirty="0"/>
              <a:t>shall identify which types of aircraft that pose the lowest risk, analyze various factors such as </a:t>
            </a:r>
            <a:r>
              <a:rPr lang="en-US" dirty="0" smtClean="0"/>
              <a:t>Destruction </a:t>
            </a:r>
            <a:r>
              <a:rPr lang="en-US" dirty="0"/>
              <a:t>v Substantial </a:t>
            </a:r>
            <a:r>
              <a:rPr lang="en-US" dirty="0" smtClean="0"/>
              <a:t>damage in accidents recorded.</a:t>
            </a:r>
            <a:endParaRPr lang="en-US" dirty="0"/>
          </a:p>
          <a:p>
            <a:r>
              <a:rPr lang="en-US" dirty="0" smtClean="0"/>
              <a:t>These </a:t>
            </a:r>
            <a:r>
              <a:rPr lang="en-US" dirty="0"/>
              <a:t>insights will </a:t>
            </a:r>
            <a:r>
              <a:rPr lang="en-US" dirty="0" smtClean="0"/>
              <a:t>you make informed decisions </a:t>
            </a:r>
            <a:r>
              <a:rPr lang="en-US" dirty="0"/>
              <a:t>on which aircraft to purchase, minimizing risk and ensuring a successful entry into the aviation market.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2936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2. Direction of Analysis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need to analyze crash and incident data for the aviation industry thereby helping us to</a:t>
            </a:r>
            <a:r>
              <a:rPr lang="en-US" dirty="0" smtClean="0"/>
              <a:t>;</a:t>
            </a:r>
          </a:p>
          <a:p>
            <a:pPr marL="571500" indent="-571500">
              <a:buFont typeface="+mj-lt"/>
              <a:buAutoNum type="romanLcPeriod"/>
            </a:pPr>
            <a:r>
              <a:rPr lang="en-US" dirty="0" smtClean="0"/>
              <a:t>Determine </a:t>
            </a:r>
            <a:r>
              <a:rPr lang="en-US" dirty="0"/>
              <a:t>which aircraft to </a:t>
            </a:r>
            <a:r>
              <a:rPr lang="en-US" dirty="0" smtClean="0"/>
              <a:t>avoid.</a:t>
            </a:r>
          </a:p>
          <a:p>
            <a:pPr marL="571500" indent="-571500">
              <a:buFont typeface="+mj-lt"/>
              <a:buAutoNum type="romanLcPeriod"/>
            </a:pPr>
            <a:r>
              <a:rPr lang="en-US" dirty="0" smtClean="0"/>
              <a:t>The </a:t>
            </a:r>
            <a:r>
              <a:rPr lang="en-US" dirty="0"/>
              <a:t>average </a:t>
            </a:r>
            <a:r>
              <a:rPr lang="en-US" dirty="0" smtClean="0"/>
              <a:t>crash statistics </a:t>
            </a:r>
            <a:r>
              <a:rPr lang="en-US" dirty="0"/>
              <a:t>in the </a:t>
            </a:r>
            <a:r>
              <a:rPr lang="en-US" dirty="0" smtClean="0"/>
              <a:t>industry</a:t>
            </a:r>
          </a:p>
          <a:p>
            <a:pPr marL="571500" indent="-571500">
              <a:buFont typeface="+mj-lt"/>
              <a:buAutoNum type="romanLcPeriod"/>
            </a:pPr>
            <a:r>
              <a:rPr lang="en-US" dirty="0" smtClean="0"/>
              <a:t>Which </a:t>
            </a:r>
            <a:r>
              <a:rPr lang="en-US" dirty="0"/>
              <a:t>type of aircraft to invest in if the data aligns with our </a:t>
            </a:r>
            <a:r>
              <a:rPr lang="en-US" dirty="0" smtClean="0"/>
              <a:t>goals.</a:t>
            </a:r>
          </a:p>
          <a:p>
            <a:pPr marL="571500" indent="-571500">
              <a:buFont typeface="+mj-lt"/>
              <a:buAutoNum type="romanLcPeriod"/>
            </a:pPr>
            <a:endParaRPr lang="en-US" dirty="0"/>
          </a:p>
          <a:p>
            <a:pPr marL="0" indent="0">
              <a:buNone/>
            </a:pPr>
            <a:r>
              <a:rPr lang="en-US" dirty="0" smtClean="0"/>
              <a:t>We have decided to go with the most common types of aircraft, that is Airplanes and Helicopters.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8093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971022"/>
          </a:xfrm>
        </p:spPr>
        <p:txBody>
          <a:bodyPr>
            <a:normAutofit/>
          </a:bodyPr>
          <a:lstStyle/>
          <a:p>
            <a:r>
              <a:rPr lang="en-US" dirty="0" smtClean="0"/>
              <a:t>General Accident Data For Airplanes.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8700" y="1345222"/>
            <a:ext cx="5926015" cy="53281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38292" y="1556238"/>
            <a:ext cx="391550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As we can see from the graph here, Airplanes are relatively safe with less than 20% of fatal accidents resulting in destruction of the airplane. </a:t>
            </a:r>
          </a:p>
          <a:p>
            <a:endParaRPr lang="en-US" dirty="0"/>
          </a:p>
          <a:p>
            <a:r>
              <a:rPr lang="en-US" dirty="0" smtClean="0"/>
              <a:t>As such, this negates fears in the airplane type and we can now proceed to delve in further to the various makes that formed the data.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0998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52560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Planes that got Destroyed.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0986" y="817686"/>
            <a:ext cx="5193321" cy="587326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8224291"/>
              </p:ext>
            </p:extLst>
          </p:nvPr>
        </p:nvGraphicFramePr>
        <p:xfrm>
          <a:off x="6031522" y="940779"/>
          <a:ext cx="5589493" cy="358775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25483">
                  <a:extLst>
                    <a:ext uri="{9D8B030D-6E8A-4147-A177-3AD203B41FA5}">
                      <a16:colId xmlns:a16="http://schemas.microsoft.com/office/drawing/2014/main" val="2711698434"/>
                    </a:ext>
                  </a:extLst>
                </a:gridCol>
                <a:gridCol w="1254670">
                  <a:extLst>
                    <a:ext uri="{9D8B030D-6E8A-4147-A177-3AD203B41FA5}">
                      <a16:colId xmlns:a16="http://schemas.microsoft.com/office/drawing/2014/main" val="180774637"/>
                    </a:ext>
                  </a:extLst>
                </a:gridCol>
                <a:gridCol w="1254670">
                  <a:extLst>
                    <a:ext uri="{9D8B030D-6E8A-4147-A177-3AD203B41FA5}">
                      <a16:colId xmlns:a16="http://schemas.microsoft.com/office/drawing/2014/main" val="273365406"/>
                    </a:ext>
                  </a:extLst>
                </a:gridCol>
                <a:gridCol w="1254670">
                  <a:extLst>
                    <a:ext uri="{9D8B030D-6E8A-4147-A177-3AD203B41FA5}">
                      <a16:colId xmlns:a16="http://schemas.microsoft.com/office/drawing/2014/main" val="1515319477"/>
                    </a:ext>
                  </a:extLst>
                </a:gridCol>
              </a:tblGrid>
              <a:tr h="77712">
                <a:tc gridSpan="4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TOP 30 DESTROYED AIRPLANES IN ACCIDENTS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2596590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effectLst/>
                        </a:rPr>
                        <a:t>Make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Number Destroyed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Make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Number Destroyed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5422550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CESSNA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1031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CHAMPION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11050500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PIPER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660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DE HAVILLAND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17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39577004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BEECH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328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SOCATA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37199837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MOONEY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69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AERONCA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15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25459980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GRUMMAN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effectLst/>
                        </a:rPr>
                        <a:t>66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MITSUBISHI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80236857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BOEING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59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ROCKWELL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37461809"/>
                  </a:ext>
                </a:extLst>
              </a:tr>
              <a:tr h="24033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AIR TRACTOR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39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RAYTHEON AIRCRAFT COMPANY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63353597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CIRRUS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36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LEARJET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59939109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CIRRUS DESIGN CORP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34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MAULE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71762268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VANS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30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AIRBUS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31727592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BELLANCA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28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LUSCOMBE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5019356"/>
                  </a:ext>
                </a:extLst>
              </a:tr>
              <a:tr h="15902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AIR TRACTOR INC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effectLst/>
                        </a:rPr>
                        <a:t>23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GRUMMAN AMERICAN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53669270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AERO COMMANDER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22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SMITH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15115154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EMBRAER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20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RANS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7704282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NORTH AMERICAN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19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LOCKHEED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effectLst/>
                        </a:rPr>
                        <a:t>9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2550343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022731" y="4545623"/>
            <a:ext cx="57765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As it would appear, the worst accidents occurred in Cessna, followed by Piper and Beech. As such these type of brands would be best avoided. As the table has been split, I advise we proceed with the brands on the right hand side due to low incidence of occurrence.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68111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67921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Planes that got Substantial Damage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7054" y="861646"/>
            <a:ext cx="5108331" cy="51803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295870"/>
              </p:ext>
            </p:extLst>
          </p:nvPr>
        </p:nvGraphicFramePr>
        <p:xfrm>
          <a:off x="5275385" y="738554"/>
          <a:ext cx="6743700" cy="358775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46590">
                  <a:extLst>
                    <a:ext uri="{9D8B030D-6E8A-4147-A177-3AD203B41FA5}">
                      <a16:colId xmlns:a16="http://schemas.microsoft.com/office/drawing/2014/main" val="4123489280"/>
                    </a:ext>
                  </a:extLst>
                </a:gridCol>
                <a:gridCol w="1632370">
                  <a:extLst>
                    <a:ext uri="{9D8B030D-6E8A-4147-A177-3AD203B41FA5}">
                      <a16:colId xmlns:a16="http://schemas.microsoft.com/office/drawing/2014/main" val="1124949562"/>
                    </a:ext>
                  </a:extLst>
                </a:gridCol>
                <a:gridCol w="1632370">
                  <a:extLst>
                    <a:ext uri="{9D8B030D-6E8A-4147-A177-3AD203B41FA5}">
                      <a16:colId xmlns:a16="http://schemas.microsoft.com/office/drawing/2014/main" val="3056459574"/>
                    </a:ext>
                  </a:extLst>
                </a:gridCol>
                <a:gridCol w="1632370">
                  <a:extLst>
                    <a:ext uri="{9D8B030D-6E8A-4147-A177-3AD203B41FA5}">
                      <a16:colId xmlns:a16="http://schemas.microsoft.com/office/drawing/2014/main" val="3556917581"/>
                    </a:ext>
                  </a:extLst>
                </a:gridCol>
              </a:tblGrid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Make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Damaged Substantially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Make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Damaged Substantially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63597942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CESSNA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7181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TAYLORCRAFT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76940090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PIPER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3929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>
                          <a:solidFill>
                            <a:schemeClr val="tx1"/>
                          </a:solidFill>
                          <a:effectLst/>
                        </a:rPr>
                        <a:t>VANS</a:t>
                      </a:r>
                      <a:endParaRPr lang="en-US" sz="11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94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7375583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BEECH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1288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CIRRUS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92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17482307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MOONEY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338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NORTH AMERICAN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91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51519111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BOEING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320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DEHAVILLAND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83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27994831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BELLANCA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250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AERO COMMANDER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82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05277466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MAULE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218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AVIAT AIRCRAFT INC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72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30703587"/>
                  </a:ext>
                </a:extLst>
              </a:tr>
              <a:tr h="29805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AERONCA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210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DIAMOND AIRCRAFT IND INC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67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34233874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AIR TRACTOR INC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193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AVIAT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62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86016572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AIR TRACTOR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182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ERCOUPE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60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73140232"/>
                  </a:ext>
                </a:extLst>
              </a:tr>
              <a:tr h="29805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GRUMMAN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180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GRUMMAN ACFT ENG COR-SCHWEIZER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57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23384996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CIRRUS DESIGN CORP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173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SOCATA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56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91634718"/>
                  </a:ext>
                </a:extLst>
              </a:tr>
              <a:tr h="29805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CHAMPION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151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ROCKWELL INTERNATIONAL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52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33265290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LUSCOMBE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150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DE HAVILLAND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52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16645746"/>
                  </a:ext>
                </a:extLst>
              </a:tr>
              <a:tr h="29805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STINSON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139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AMERICAN CHAMPION AIRCRAFT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49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239385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275385" y="4334608"/>
            <a:ext cx="668215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 similar trend unfolds here as well, </a:t>
            </a:r>
            <a:r>
              <a:rPr lang="en-US" dirty="0"/>
              <a:t>the most </a:t>
            </a:r>
            <a:r>
              <a:rPr lang="en-US" dirty="0" smtClean="0"/>
              <a:t>substantial </a:t>
            </a:r>
            <a:r>
              <a:rPr lang="en-US" dirty="0"/>
              <a:t>accidents occurred in Cessna, followed by Piper and Beech. As such these type of brands would be best avoided. As the table has been split, I advise we proceed with the brands on the right hand side due to low incidence of occurrence.</a:t>
            </a:r>
          </a:p>
        </p:txBody>
      </p:sp>
    </p:spTree>
    <p:extLst>
      <p:ext uri="{BB962C8B-B14F-4D97-AF65-F5344CB8AC3E}">
        <p14:creationId xmlns:p14="http://schemas.microsoft.com/office/powerpoint/2010/main" val="2430933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General Accident Data for Helicopters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696" y="1500310"/>
            <a:ext cx="5804158" cy="50851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37131" y="1690688"/>
            <a:ext cx="465113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 we can see from the graph here, </a:t>
            </a:r>
            <a:r>
              <a:rPr lang="en-US" dirty="0" smtClean="0"/>
              <a:t>Helicopters </a:t>
            </a:r>
            <a:r>
              <a:rPr lang="en-US" dirty="0"/>
              <a:t>are relatively safe with </a:t>
            </a:r>
            <a:r>
              <a:rPr lang="en-US" dirty="0" smtClean="0"/>
              <a:t>slightly less </a:t>
            </a:r>
            <a:r>
              <a:rPr lang="en-US" dirty="0"/>
              <a:t>than </a:t>
            </a:r>
            <a:r>
              <a:rPr lang="en-US" dirty="0" smtClean="0"/>
              <a:t>25% </a:t>
            </a:r>
            <a:r>
              <a:rPr lang="en-US" dirty="0"/>
              <a:t>of fatal accidents resulting in destruction of the </a:t>
            </a:r>
            <a:r>
              <a:rPr lang="en-US" dirty="0" smtClean="0"/>
              <a:t>helicopter. </a:t>
            </a:r>
          </a:p>
          <a:p>
            <a:r>
              <a:rPr lang="en-US" dirty="0" smtClean="0"/>
              <a:t>Do note; The ratio for destruction compared to substantial damage is greater in helicopters despite the fewer numbers. </a:t>
            </a:r>
            <a:endParaRPr lang="en-US" dirty="0"/>
          </a:p>
          <a:p>
            <a:endParaRPr lang="en-US" dirty="0"/>
          </a:p>
          <a:p>
            <a:r>
              <a:rPr lang="en-US" dirty="0"/>
              <a:t>As such, </a:t>
            </a:r>
            <a:r>
              <a:rPr lang="en-US" dirty="0" smtClean="0"/>
              <a:t>all factors held constant, helicopters seem safer than airplanes and as such we can proceed with them. We </a:t>
            </a:r>
            <a:r>
              <a:rPr lang="en-US" dirty="0"/>
              <a:t>can now proceed to delve in further to the various makes that formed the data.</a:t>
            </a:r>
          </a:p>
        </p:txBody>
      </p:sp>
    </p:spTree>
    <p:extLst>
      <p:ext uri="{BB962C8B-B14F-4D97-AF65-F5344CB8AC3E}">
        <p14:creationId xmlns:p14="http://schemas.microsoft.com/office/powerpoint/2010/main" val="24450139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52560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Helicopters that got destroyed.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130" y="817686"/>
            <a:ext cx="4941277" cy="52243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4189391"/>
              </p:ext>
            </p:extLst>
          </p:nvPr>
        </p:nvGraphicFramePr>
        <p:xfrm>
          <a:off x="5020407" y="1022018"/>
          <a:ext cx="7092464" cy="358749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86497">
                  <a:extLst>
                    <a:ext uri="{9D8B030D-6E8A-4147-A177-3AD203B41FA5}">
                      <a16:colId xmlns:a16="http://schemas.microsoft.com/office/drawing/2014/main" val="1245752380"/>
                    </a:ext>
                  </a:extLst>
                </a:gridCol>
                <a:gridCol w="1901989">
                  <a:extLst>
                    <a:ext uri="{9D8B030D-6E8A-4147-A177-3AD203B41FA5}">
                      <a16:colId xmlns:a16="http://schemas.microsoft.com/office/drawing/2014/main" val="2147873232"/>
                    </a:ext>
                  </a:extLst>
                </a:gridCol>
                <a:gridCol w="1901989">
                  <a:extLst>
                    <a:ext uri="{9D8B030D-6E8A-4147-A177-3AD203B41FA5}">
                      <a16:colId xmlns:a16="http://schemas.microsoft.com/office/drawing/2014/main" val="301569792"/>
                    </a:ext>
                  </a:extLst>
                </a:gridCol>
                <a:gridCol w="1901989">
                  <a:extLst>
                    <a:ext uri="{9D8B030D-6E8A-4147-A177-3AD203B41FA5}">
                      <a16:colId xmlns:a16="http://schemas.microsoft.com/office/drawing/2014/main" val="1459292897"/>
                    </a:ext>
                  </a:extLst>
                </a:gridCol>
              </a:tblGrid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Make</a:t>
                      </a:r>
                      <a:endParaRPr lang="en-US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Number Destroyed</a:t>
                      </a:r>
                      <a:endParaRPr lang="en-US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Make 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Number Destroyed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1653684441"/>
                  </a:ext>
                </a:extLst>
              </a:tr>
              <a:tr h="98038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BELL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174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ROBINSON HELICOPTER CO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5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1078217135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ROBINSON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102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>
                          <a:effectLst/>
                        </a:rPr>
                        <a:t>MBB</a:t>
                      </a:r>
                      <a:endParaRPr lang="en-US" sz="1000" b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4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1836156565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HUGHES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29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>
                          <a:effectLst/>
                        </a:rPr>
                        <a:t>GARLICK</a:t>
                      </a:r>
                      <a:endParaRPr lang="en-US" sz="1000" b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4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737967704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EUROCOPTER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24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BELL HELICOPTER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2929113958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AEROSPATIALE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AGUSTA SPA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4269054345"/>
                  </a:ext>
                </a:extLst>
              </a:tr>
              <a:tr h="200541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SIKORSKY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21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EUROCOPTER DEUTSCHLAND GMBH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1987506199"/>
                  </a:ext>
                </a:extLst>
              </a:tr>
              <a:tr h="200541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ROBINSON HELICOPTER COMPANY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17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MCDONNELL DOUGLAS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1412083122"/>
                  </a:ext>
                </a:extLst>
              </a:tr>
              <a:tr h="98038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ROBINSON HELICOPTER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14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AIRBUS HELICOPTERS INC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3093166934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AGUSTA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FAIRCHILD HILLER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425740483"/>
                  </a:ext>
                </a:extLst>
              </a:tr>
              <a:tr h="200541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SCHWEIZER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BELL HELICOPTER TEXTRON CANADA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2945994999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ENSTROM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11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MD HELICOPTER INC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2928222419"/>
                  </a:ext>
                </a:extLst>
              </a:tr>
              <a:tr h="98038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MD HELICOPTER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KAMAN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2437638453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ROTORWAY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6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BRANTLY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837234205"/>
                  </a:ext>
                </a:extLst>
              </a:tr>
              <a:tr h="200541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BELL HELICOPTER TEXTRON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6</a:t>
                      </a:r>
                      <a:endParaRPr lang="en-US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B??LKOW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2891054069"/>
                  </a:ext>
                </a:extLst>
              </a:tr>
              <a:tr h="98038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HILLER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6</a:t>
                      </a:r>
                      <a:endParaRPr lang="en-US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ROBINSON HELICOPTER CO INC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1</a:t>
                      </a:r>
                      <a:endParaRPr lang="en-US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2430803920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5134708" y="4809392"/>
            <a:ext cx="696350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The worst </a:t>
            </a:r>
            <a:r>
              <a:rPr lang="en-US" dirty="0"/>
              <a:t>accidents occurred in </a:t>
            </a:r>
            <a:r>
              <a:rPr lang="en-US" dirty="0" smtClean="0"/>
              <a:t>Bell, </a:t>
            </a:r>
            <a:r>
              <a:rPr lang="en-US" dirty="0"/>
              <a:t>followed by </a:t>
            </a:r>
            <a:r>
              <a:rPr lang="en-US" dirty="0" smtClean="0"/>
              <a:t>Robinson. </a:t>
            </a:r>
            <a:r>
              <a:rPr lang="en-US" dirty="0"/>
              <a:t>As such these type of brands would be best avoided. </a:t>
            </a:r>
            <a:r>
              <a:rPr lang="en-US" dirty="0" smtClean="0"/>
              <a:t>The data also shrank greatly in terms of incidence and as such, any brand on the table would be good save for the above two mentioned.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929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40483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Helicopters that got Substantial Damage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1884" y="905609"/>
            <a:ext cx="4712677" cy="522739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662874"/>
              </p:ext>
            </p:extLst>
          </p:nvPr>
        </p:nvGraphicFramePr>
        <p:xfrm>
          <a:off x="5075790" y="1113451"/>
          <a:ext cx="6864165" cy="328356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30816">
                  <a:extLst>
                    <a:ext uri="{9D8B030D-6E8A-4147-A177-3AD203B41FA5}">
                      <a16:colId xmlns:a16="http://schemas.microsoft.com/office/drawing/2014/main" val="940422930"/>
                    </a:ext>
                  </a:extLst>
                </a:gridCol>
                <a:gridCol w="1877783">
                  <a:extLst>
                    <a:ext uri="{9D8B030D-6E8A-4147-A177-3AD203B41FA5}">
                      <a16:colId xmlns:a16="http://schemas.microsoft.com/office/drawing/2014/main" val="2572849731"/>
                    </a:ext>
                  </a:extLst>
                </a:gridCol>
                <a:gridCol w="1877783">
                  <a:extLst>
                    <a:ext uri="{9D8B030D-6E8A-4147-A177-3AD203B41FA5}">
                      <a16:colId xmlns:a16="http://schemas.microsoft.com/office/drawing/2014/main" val="1305827781"/>
                    </a:ext>
                  </a:extLst>
                </a:gridCol>
                <a:gridCol w="1877783">
                  <a:extLst>
                    <a:ext uri="{9D8B030D-6E8A-4147-A177-3AD203B41FA5}">
                      <a16:colId xmlns:a16="http://schemas.microsoft.com/office/drawing/2014/main" val="320054306"/>
                    </a:ext>
                  </a:extLst>
                </a:gridCol>
              </a:tblGrid>
              <a:tr h="19670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>
                          <a:solidFill>
                            <a:schemeClr val="tx1"/>
                          </a:solidFill>
                          <a:effectLst/>
                        </a:rPr>
                        <a:t>Make</a:t>
                      </a:r>
                      <a:endParaRPr lang="en-US" sz="9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>
                          <a:solidFill>
                            <a:schemeClr val="tx1"/>
                          </a:solidFill>
                          <a:effectLst/>
                        </a:rPr>
                        <a:t>Substantially Damaged</a:t>
                      </a:r>
                      <a:endParaRPr lang="en-US" sz="9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>
                          <a:solidFill>
                            <a:schemeClr val="tx1"/>
                          </a:solidFill>
                          <a:effectLst/>
                        </a:rPr>
                        <a:t>Make</a:t>
                      </a:r>
                      <a:endParaRPr lang="en-US" sz="9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</a:rPr>
                        <a:t>Substantially Damaged</a:t>
                      </a:r>
                      <a:endParaRPr lang="en-US" sz="9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9676096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BELL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691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BELL HELICOPTER TEXTRON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93424342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ROBINSON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422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ROBINSON HELICOPTER CO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3729826968"/>
                  </a:ext>
                </a:extLst>
              </a:tr>
              <a:tr h="24359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ROBINSON HELICOPTER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210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BELL HELICOPTER TEXTRON CANADA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486690846"/>
                  </a:ext>
                </a:extLst>
              </a:tr>
              <a:tr h="1190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HUGHES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209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BRANTLY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842946070"/>
                  </a:ext>
                </a:extLst>
              </a:tr>
              <a:tr h="2526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ROBINSON HELICOPTER COMPANY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165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AGUSTA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350348809"/>
                  </a:ext>
                </a:extLst>
              </a:tr>
              <a:tr h="1190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EUROCOPTER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119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EUROCOPTER FRANCE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15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308601865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SCHWEIZER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97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EUROCOPTER DEUTSCHLAND GMBH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14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884743252"/>
                  </a:ext>
                </a:extLst>
              </a:tr>
              <a:tr h="1190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ENSTROM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70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MCDONNELL DOUGLAS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13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1305347022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AEROSPATIALE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66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MCDONNELL DOUGLAS HELI CO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794932653"/>
                  </a:ext>
                </a:extLst>
              </a:tr>
              <a:tr h="1190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SIKORSKY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59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AIRBUS HELICOPTERS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9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995383152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HILLER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58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TEXAS HELICOPTER CORP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9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1387597794"/>
                  </a:ext>
                </a:extLst>
              </a:tr>
              <a:tr h="2526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MCDONNELL DOUGLAS HELICOPTER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GARLICK HELICOPTERS INC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8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3452532976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MD HELICOPTER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28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MBB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7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847074233"/>
                  </a:ext>
                </a:extLst>
              </a:tr>
              <a:tr h="1190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AIRBUS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GARLICK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7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3643340437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ROTORWAY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17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AMERICAN EUROCOPTER CORP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35943215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75790" y="4397016"/>
            <a:ext cx="68641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In terms of substantial damage, the data takes a different turn, the figures seem to normalize and as such all the brands that appear on the left seem to be a terrible choice.</a:t>
            </a:r>
          </a:p>
          <a:p>
            <a:r>
              <a:rPr lang="en-US" dirty="0" smtClean="0"/>
              <a:t>I shall advise that we stick to those on the Right hand side.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849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Conclusion, Recommendations.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The data is very significant and shows an interesting trend of where helicopters tend to take more damage on average in comparison to aircraft.</a:t>
            </a:r>
          </a:p>
          <a:p>
            <a:r>
              <a:rPr lang="en-US" dirty="0" smtClean="0"/>
              <a:t>This however doesn’t stop us, as we earlier saw, the ratio of destruction in comparison to substantial damage is quite low roughly 20%-25%.</a:t>
            </a:r>
          </a:p>
          <a:p>
            <a:endParaRPr lang="en-US" dirty="0"/>
          </a:p>
          <a:p>
            <a:r>
              <a:rPr lang="en-US" dirty="0" smtClean="0"/>
              <a:t>The idea seems quite good and as such we should proceed with the idea less, the Makes of planes mentioned in the slides as they seem chaotic.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7200900" y="6101862"/>
            <a:ext cx="48797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Presented by: Daniel Ogando</a:t>
            </a:r>
          </a:p>
          <a:p>
            <a:r>
              <a:rPr lang="en-US" dirty="0" smtClean="0"/>
              <a:t>www.linkedin.com/in/daniel-ogando</a:t>
            </a:r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827334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ctr"/>
            <a:r>
              <a:rPr lang="en-US" sz="19900" dirty="0" smtClean="0"/>
              <a:t>Q&amp;A?</a:t>
            </a:r>
            <a:endParaRPr lang="en-US" sz="19900" dirty="0"/>
          </a:p>
        </p:txBody>
      </p:sp>
      <p:sp>
        <p:nvSpPr>
          <p:cNvPr id="4" name="TextBox 3"/>
          <p:cNvSpPr txBox="1"/>
          <p:nvPr/>
        </p:nvSpPr>
        <p:spPr>
          <a:xfrm>
            <a:off x="7200900" y="6101862"/>
            <a:ext cx="48797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Presented by: Daniel Ogando</a:t>
            </a:r>
          </a:p>
          <a:p>
            <a:r>
              <a:rPr lang="en-US" dirty="0" smtClean="0"/>
              <a:t>www.linkedin.com/in/daniel-ogando</a:t>
            </a:r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09385058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103</TotalTime>
  <Words>1012</Words>
  <Application>Microsoft Office PowerPoint</Application>
  <PresentationFormat>Widescreen</PresentationFormat>
  <Paragraphs>298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Calibri</vt:lpstr>
      <vt:lpstr>Times New Roman</vt:lpstr>
      <vt:lpstr>Tw Cen MT</vt:lpstr>
      <vt:lpstr>Tw Cen MT Condensed</vt:lpstr>
      <vt:lpstr>Wingdings 3</vt:lpstr>
      <vt:lpstr>Integral</vt:lpstr>
      <vt:lpstr>CAPITAL INVESTMENTS LIMITED.</vt:lpstr>
      <vt:lpstr>1. Business Understanding.</vt:lpstr>
      <vt:lpstr>2. Direction of Analysis</vt:lpstr>
      <vt:lpstr>General Accident Data For Airplanes.</vt:lpstr>
      <vt:lpstr>Planes that got Destroyed.</vt:lpstr>
      <vt:lpstr>Planes that got Substantial Damage</vt:lpstr>
      <vt:lpstr>General Accident Data for Helicopters</vt:lpstr>
      <vt:lpstr>Helicopters that got destroyed.</vt:lpstr>
      <vt:lpstr>Helicopters that got Substantial Damage</vt:lpstr>
      <vt:lpstr>Conclusion, Recommendations.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CAPITAL INVESTMENTS LIMITED.</dc:title>
  <dc:creator>Daniel Katete Ogando</dc:creator>
  <cp:lastModifiedBy>Daniel Katete Ogando</cp:lastModifiedBy>
  <cp:revision>17</cp:revision>
  <dcterms:created xsi:type="dcterms:W3CDTF">2024-11-19T16:05:03Z</dcterms:created>
  <dcterms:modified xsi:type="dcterms:W3CDTF">2024-11-19T18:16:12Z</dcterms:modified>
</cp:coreProperties>
</file>